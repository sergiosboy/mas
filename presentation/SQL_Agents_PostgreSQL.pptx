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a5b569c5534dec" /><Relationship Type="http://schemas.openxmlformats.org/officeDocument/2006/relationships/extended-properties" Target="/docProps/app.xml" Id="R71a4428ec95746ca" /><Relationship Type="http://schemas.openxmlformats.org/officeDocument/2006/relationships/officeDocument" Target="/ppt/presentation.xml" Id="R5aeef02ad6d04a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c1c38141094660"/>
  </p:sldMasterIdLst>
  <p:notesMasterIdLst>
    <p:notesMasterId xmlns:r="http://schemas.openxmlformats.org/officeDocument/2006/relationships" r:id="R9f6112b779f1470f"/>
  </p:notesMasterIdLst>
  <p:sldIdLst>
    <p:sldId xmlns:r="http://schemas.openxmlformats.org/officeDocument/2006/relationships" id="256" r:id="R581a9f698316492c"/>
    <p:sldId xmlns:r="http://schemas.openxmlformats.org/officeDocument/2006/relationships" id="257" r:id="R50b29eda92fa4aec"/>
    <p:sldId xmlns:r="http://schemas.openxmlformats.org/officeDocument/2006/relationships" id="258" r:id="Rd34ebe1f0903411b"/>
    <p:sldId xmlns:r="http://schemas.openxmlformats.org/officeDocument/2006/relationships" id="259" r:id="R0c7346ad08cc4743"/>
    <p:sldId xmlns:r="http://schemas.openxmlformats.org/officeDocument/2006/relationships" id="260" r:id="R8f2d24de30264265"/>
    <p:sldId xmlns:r="http://schemas.openxmlformats.org/officeDocument/2006/relationships" id="261" r:id="R99d12c2b17414c97"/>
    <p:sldId xmlns:r="http://schemas.openxmlformats.org/officeDocument/2006/relationships" id="262" r:id="Reb5e74133e15441d"/>
    <p:sldId xmlns:r="http://schemas.openxmlformats.org/officeDocument/2006/relationships" id="263" r:id="Rad96dffa82e2449f"/>
    <p:sldId xmlns:r="http://schemas.openxmlformats.org/officeDocument/2006/relationships" id="264" r:id="Rc4b44591bd6144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d0fa40942f4428" /><Relationship Type="http://schemas.openxmlformats.org/officeDocument/2006/relationships/slideMaster" Target="/ppt/slideMasters/slideMaster1.xml" Id="Rdec1c38141094660" /><Relationship Type="http://schemas.openxmlformats.org/officeDocument/2006/relationships/notesMaster" Target="/ppt/notesMasters/notesMaster1.xml" Id="R9f6112b779f1470f" /><Relationship Type="http://schemas.openxmlformats.org/officeDocument/2006/relationships/presProps" Target="/ppt/presProps.xml" Id="Rabd8fa09666d48f5" /><Relationship Type="http://schemas.openxmlformats.org/officeDocument/2006/relationships/tableStyles" Target="/ppt/tableStyles.xml" Id="R9251d7d3808143ff" /><Relationship Type="http://schemas.openxmlformats.org/officeDocument/2006/relationships/slide" Target="/ppt/slides/slide1.xml" Id="R581a9f698316492c" /><Relationship Type="http://schemas.openxmlformats.org/officeDocument/2006/relationships/slide" Target="/ppt/slides/slide2.xml" Id="R50b29eda92fa4aec" /><Relationship Type="http://schemas.openxmlformats.org/officeDocument/2006/relationships/slide" Target="/ppt/slides/slide3.xml" Id="Rd34ebe1f0903411b" /><Relationship Type="http://schemas.openxmlformats.org/officeDocument/2006/relationships/slide" Target="/ppt/slides/slide4.xml" Id="R0c7346ad08cc4743" /><Relationship Type="http://schemas.openxmlformats.org/officeDocument/2006/relationships/slide" Target="/ppt/slides/slide5.xml" Id="R8f2d24de30264265" /><Relationship Type="http://schemas.openxmlformats.org/officeDocument/2006/relationships/slide" Target="/ppt/slides/slide6.xml" Id="R99d12c2b17414c97" /><Relationship Type="http://schemas.openxmlformats.org/officeDocument/2006/relationships/slide" Target="/ppt/slides/slide7.xml" Id="Reb5e74133e15441d" /><Relationship Type="http://schemas.openxmlformats.org/officeDocument/2006/relationships/slide" Target="/ppt/slides/slide8.xml" Id="Rad96dffa82e2449f" /><Relationship Type="http://schemas.openxmlformats.org/officeDocument/2006/relationships/slide" Target="/ppt/slides/slide9.xml" Id="Rc4b44591bd6144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67a38cf82145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0d98e481af43df" /><Relationship Type="http://schemas.openxmlformats.org/officeDocument/2006/relationships/notesMaster" Target="/ppt/notesMasters/notesMaster1.xml" Id="Rb444340e71f944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9ef644b0a54064" /><Relationship Type="http://schemas.openxmlformats.org/officeDocument/2006/relationships/notesMaster" Target="/ppt/notesMasters/notesMaster1.xml" Id="Rccf2dd955d894c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3a2047eaa94f0b" /><Relationship Type="http://schemas.openxmlformats.org/officeDocument/2006/relationships/notesMaster" Target="/ppt/notesMasters/notesMaster1.xml" Id="R2ba3600206614e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2fc71b3835406e" /><Relationship Type="http://schemas.openxmlformats.org/officeDocument/2006/relationships/notesMaster" Target="/ppt/notesMasters/notesMaster1.xml" Id="Rd45f1d9966ec45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56ad5fe39a4f14" /><Relationship Type="http://schemas.openxmlformats.org/officeDocument/2006/relationships/notesMaster" Target="/ppt/notesMasters/notesMaster1.xml" Id="R7dac87c7dd4047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c8f3d980904038" /><Relationship Type="http://schemas.openxmlformats.org/officeDocument/2006/relationships/notesMaster" Target="/ppt/notesMasters/notesMaster1.xml" Id="R21471a391dd142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8dc64b78594d8c" /><Relationship Type="http://schemas.openxmlformats.org/officeDocument/2006/relationships/notesMaster" Target="/ppt/notesMasters/notesMaster1.xml" Id="Reafe21847f614c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d348a2d1a74bbe" /><Relationship Type="http://schemas.openxmlformats.org/officeDocument/2006/relationships/notesMaster" Target="/ppt/notesMasters/notesMaster1.xml" Id="R2260b824dc514f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ae7a82ecdb4074" /><Relationship Type="http://schemas.openxmlformats.org/officeDocument/2006/relationships/notesMaster" Target="/ppt/notesMasters/notesMaster1.xml" Id="R69ebb439573e40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секунд. Сергей: Мы сравниваем три способа отвечать на вопросы к базе продаж. Проверяем, помогает ли разделение ролей получить более правильный ответ и сколько это требует вызовов. Подготовленный показ работает без сети. Его результаты относятся к запрограммированному demo, реальный LLM-прогон пока не выполнен.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секунд. Сергей: Workflow выбирает готовый SQL-шаблон. Single сам выбирает SQL, видит ошибки базы и составляет ответ. В MAS эти обязанности разделены между четырьмя ролями. Данные, инструменты выполнения SQL и построения отчёта общие. В demo вместо модели работают фиксированные учебные ответы. В live те же циклы вызывают одну выбранную LLM. Исходники: salesbench/architectures.py и backend.py.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секунд. Александра: Planner разбивает вопрос на подзадачи и задаёт порядок ролей с учётом зависимостей. SQL Agent формирует запрос, инструмент выполняет его. Analyst получает таблицу и рассчитанную статистику, выбирает график и пишет сводку. Critic проверяет смысл SQL и отчёт. При ошибке добавляет замечание в состояние, Planner получает его на следующем цикле. Подзадачи этой небольшой версии сводятся к одному итоговому SQL. SQL-эталон доступен только внешнему оценщику.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секунд. Сергей: Каждый вариант получает одинаковый вопрос, схему и бизнес-правила. В live Single и все роли MAS используют один ID модели. Общий лимит на задачу и вариант: 12 вызовов, 16 тысяч токенов вместе с входом, 120 секунд, две попытки. На один вызов максимум 700 выходных токенов. Workflow не использует LLM. Качество проверяет независимый оценщик, он не подсказывает агентам. Первый успех относится к первому кандидату, итоговый — к завершённому ответу после исправлений. Ошибка и остановка по лимиту остаются в статистике.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секунд. Александра: В базе 48 заказов, 6 покупателей и 3 региона. Вопросы проверяют суммы, группировки, среднее, уникальных покупателей, фильтр статуса и долю возвратов без двойного счёта. Справа реальный результат SQL для T1 на учебной базе, рубли условные. Есть отменённые заказы и несколько причин возврата одного заказа. Источник графика: results/postgres_prepared/results.json, workflow T1.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секунд. Сергей: Это фактически выполненные локальные измерения на шести задачах, один повтор. Ответы агентов заданы программой, LLM не вызывалась. Поэтому токены и стоимость API равны нулю. Число вызовов относится к заглушке. Workflow справился с пятью вопросами из шести. Single исправил одну ошибку, MAS исправила две. Эти различия специально заложены в сценарий и не являются доказательством качества MAS. Время измерено на PostgreSQL 14.17 и включает подключения к базе, но не прогнозирует скорость настоящей модели. Источник: results/postgres_prepared/results.json, все 18 запусков, включая неудачные.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секунд. Александра: T1 проходит у всех трёх вариантов, это контрольный успех. В T3 заглушка сначала пишет amount вместо total. PostgreSQL сообщает об ошибке, Single и MAS исправляют запрос. В T5 синтаксис правильный, но забыли фильтр completed. Single принимает 17495, хотя правильное значение 15260. Demo-Critic замечает отсутствие фильтра и возвращает задачу. T6 показывает границу простого workflow, для возвратов шаблона нет. Проверка дубликатов входит в эталон. Все ошибки и ответы доступны в подготовленном HTML-отчёте, разделы T3, T5 и T6.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секунд. Сергей: Теперь нужно выбрать одну доступную модель, записать её точный ID и тарифы и запустить live-режим. Пять повторов на шести задачах и трёх вариантах дадут 90 запусков. Собираем usage, стоимость и время в том числе неудач. Мы пока не утверждаем, что MAS лучше. Затем расширим скрытый набор и отключим Critic, чтобы понять, помогает именно проверка или просто дополнительные вызовы. Реальный прогон требует собственного ключа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секунд. Александра: Слайд пока фиксирует предлагаемое распределение проверки и доработки. Сергей отвечает за workflow, Single, подключение модели и общий журнал. Александра — за MAS, общий набор, сведение метрик и разбор провалов. Каркас подготовлен с помощью ИИ, поэтому до 22 октября каждый должен реально запустить и проверить свою часть и обновить этот слайд фактическим вкладом. Не утверждайте, что распределённые действия уже выполнены.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730c933df4f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2aa09bd2bc4b49" /><Relationship Type="http://schemas.openxmlformats.org/officeDocument/2006/relationships/slideLayout" Target="/ppt/slideLayouts/slideLayout1.xml" Id="R5fb49e6713bb45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b49e6713bb45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989427c1d4671" /><Relationship Type="http://schemas.openxmlformats.org/officeDocument/2006/relationships/notesSlide" Target="/ppt/notesSlides/notesSlide1.xml" Id="Rdba142f93aa741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1ccf1d6b7467d" /><Relationship Type="http://schemas.openxmlformats.org/officeDocument/2006/relationships/notesSlide" Target="/ppt/notesSlides/notesSlide2.xml" Id="R0cdfb53ff80345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306f3a00e4334" /><Relationship Type="http://schemas.openxmlformats.org/officeDocument/2006/relationships/notesSlide" Target="/ppt/notesSlides/notesSlide3.xml" Id="R1ec451d99b2f4a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74a385876494a" /><Relationship Type="http://schemas.openxmlformats.org/officeDocument/2006/relationships/notesSlide" Target="/ppt/notesSlides/notesSlide4.xml" Id="Rcec08acb17ac4d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4bb1fd1884f86" /><Relationship Type="http://schemas.openxmlformats.org/officeDocument/2006/relationships/chart" Target="/ppt/slides/charts/chart1.xml" Id="R4b7cc846d7da4363" /><Relationship Type="http://schemas.openxmlformats.org/officeDocument/2006/relationships/notesSlide" Target="/ppt/notesSlides/notesSlide5.xml" Id="R121e8c307f9842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19657e104459f" /><Relationship Type="http://schemas.openxmlformats.org/officeDocument/2006/relationships/notesSlide" Target="/ppt/notesSlides/notesSlide6.xml" Id="R0d89727af63743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002f614694daf" /><Relationship Type="http://schemas.openxmlformats.org/officeDocument/2006/relationships/notesSlide" Target="/ppt/notesSlides/notesSlide7.xml" Id="R41f72b38e42e42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79de255ea472a" /><Relationship Type="http://schemas.openxmlformats.org/officeDocument/2006/relationships/notesSlide" Target="/ppt/notesSlides/notesSlide8.xml" Id="R9da6f49242404b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819ec0c6a4b47" /><Relationship Type="http://schemas.openxmlformats.org/officeDocument/2006/relationships/notesSlide" Target="/ppt/notesSlides/notesSlide9.xml" Id="R66a716a862e8421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Выручка, усл. руб.</c:v>
          </c:tx>
          <c:spPr>
            <a:solidFill xmlns:a="http://schemas.openxmlformats.org/drawingml/2006/main">
              <a:srgbClr val="087F8C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4740</c:v>
                </c:pt>
                <c:pt idx="1">
                  <c:v>5405</c:v>
                </c:pt>
                <c:pt idx="2">
                  <c:v>5115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83340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6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0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3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04EAC-316A-49E1-B6B6-E962C1DE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SQL-данные в PostgreSQL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DBC05-12F0-4414-99CF-C5A083A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Workflow, одиночный агент</a:t>
            </a:r>
          </a:p>
          <a:p xmlns:a="http://schemas.openxmlformats.org/drawingml/2006/main">
            <a:pPr>
              <a:def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 мультиагентная команда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32C77-4B67-4562-A63D-D4E7762D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9D3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9D3D1"/>
                </a:solidFill>
                <a:latin typeface="Helvetica Neue"/>
                <a:ea typeface="Helvetica Neue"/>
                <a:cs typeface="Helvetica Neue"/>
              </a:rPr>
              <a:t>Качество ответа, затраты и время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0E646-E04D-4B59-9C30-F83DD704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Романов Сергей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Александра Железнова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1EF26-0E22-4F58-A88A-C67E18A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rPr>
              <a:t>Учебный прототип. 18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602605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7B5CA-5E05-4BE3-ABCE-29FCBD44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Три работающих варианта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6D4C3-8A6A-4274-82AB-D6B28206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953000"/>
                <a:gridCol w="3924300"/>
              </a:tblGrid>
              <a:tr h="885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Вариант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Как решает задачу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Граница прототипа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Workflow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SQL-шаблон и готовый отчёт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поддерживаемых типов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Один агент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Сам выбирает SQL и сводку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Получает ошибки инструментов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 отдельного проверяющего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MAS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Planner, SQL, Analyst, Critic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Общее состояние и переделки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 2 циклов на задачу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96351-EF8E-4645-8952-56CDD0DC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Общие инструменты: PostgreSQL, статистика, график и журнал действий</a:t>
            </a:r>
          </a:p>
        </p:txBody>
      </p:sp>
    </p:spTree>
    <p:extLst>
      <p:ext uri="{BB962C8B-B14F-4D97-AF65-F5344CB8AC3E}">
        <p14:creationId xmlns:p14="http://schemas.microsoft.com/office/powerpoint/2010/main" val="19959957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522DA-95B0-43A2-9138-CA4E3B03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MAS и общая чёрная доска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77DB7-B427-4073-97E0-7ECA4D5B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Роль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Результат в общем состоянии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 Planner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Подзадачи, порядок вызовов и инструкции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 SQL Agent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SQL-запрос и таблица результата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 Analyst Agent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Статистика, тип графика и сводка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 Critic / Verifier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Принятие ответа или причина переделки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85E64-A353-42BC-AAC1-F935B34C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Чёрная доска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94808-0557-45F4-8566-5AFF58E3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Вопрос, план, SQL, данные, отчёт, ошибки и история сообщений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41579-299D-4AB1-88E9-43E73085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Отказ Critic запускает новый цикл с сохранёнными замечаниями</a:t>
            </a:r>
          </a:p>
        </p:txBody>
      </p:sp>
    </p:spTree>
    <p:extLst>
      <p:ext uri="{BB962C8B-B14F-4D97-AF65-F5344CB8AC3E}">
        <p14:creationId xmlns:p14="http://schemas.microsoft.com/office/powerpoint/2010/main" val="17438157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C2758-EE99-434F-9C94-6EDC4D5D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Условия сравнения и критерий успеха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28F0B-F9DC-4D7F-94D8-6235056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8429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Параметр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Общее правило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Данные и модель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PostgreSQL и 6 вопросов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 live одна модель для Single и всех ролей MAS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Лимиты на задачу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 вызовов, 16 000 токенов, 120 с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попытки, 700 выходных токенов на вызов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Успех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Таблица совпала с эталоном, график верен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Есть сводка с проверяемым числом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0F30E-EE2F-4DD4-812C-92E37C61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Считаем первый и итоговый успех. Неудачи входят в расходы и время.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D6CD6-9523-4E7A-9634-54DAFF06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Смысл всей текстовой сводки требует дополнительной ручной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64016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4EBE7-94CC-4B29-B6A1-06F1EDE6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Общий набор: шесть SQL-вопросов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2ECF1-9D4E-46FA-B384-8D54A3B0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26DE1-9911-44D2-A4A6-35321CBC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T1   Выручка по месяцам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5315C-F1FA-4BD1-B1C1-70B0024B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T2   Выручка по категориям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C5A54-BA81-416F-87DA-33228C6B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T3   Средний чек по регионам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C38AE-7D24-4E92-8D0F-0D1E8A97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T4   Уникальные покупатели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BF889-8BE6-4470-800C-8FCD6345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T5   Общая выручка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B8452-C17F-4440-A125-39430F06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T6   Доля заказов с возвратами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DCF8D-AFB9-4E8E-8967-56EC543C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002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T1: выручка, условные рубли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334125" y="2238375"/>
          <a:ext xmlns:a="http://schemas.openxmlformats.org/drawingml/2006/main" cx="5238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7cc846d7da4363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A5A37-061F-4DAC-82A8-B1B164ED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48 заказов за январь–март 2026. Данные искусственные.</a:t>
            </a:r>
          </a:p>
        </p:txBody>
      </p:sp>
    </p:spTree>
    <p:extLst>
      <p:ext uri="{BB962C8B-B14F-4D97-AF65-F5344CB8AC3E}">
        <p14:creationId xmlns:p14="http://schemas.microsoft.com/office/powerpoint/2010/main" val="11584192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CC90D-3248-4A59-B593-6708EE35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Подготовленный прогон: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6758D-54E6-4290-ADF9-95012254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3C16F-68B9-4CE6-A3E1-F9C793E9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rPr>
              <a:t>SQL выполнялся в PostgreSQL. Ответы LLM запрограммированы.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714500"/>
                <a:gridCol w="1714500"/>
                <a:gridCol w="2095500"/>
                <a:gridCol w="2590800"/>
              </a:tblGrid>
              <a:tr h="6905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Вариант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Сразу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Итог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Вызовы¹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Среднее, мс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Workflow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5/6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5/6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1.856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Один агент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4/6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5/6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2.613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MAS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4/6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6/6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2.902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A54E1-C4A2-4ADB-B21C-18C9EDBF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Токены: 0. Стоимость API: $0 для каждого варианта.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1326B-5881-4481-BEE1-59A61E08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¹ Вызовы учебной заглушки. Время включает ошибки и переделки.</a:t>
            </a:r>
          </a:p>
          <a:p xmlns:a="http://schemas.openxmlformats.org/drawingml/2006/main">
            <a: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Различия заданы сценарием и не доказывают преимущество MAS.</a:t>
            </a:r>
          </a:p>
        </p:txBody>
      </p:sp>
    </p:spTree>
    <p:extLst>
      <p:ext uri="{BB962C8B-B14F-4D97-AF65-F5344CB8AC3E}">
        <p14:creationId xmlns:p14="http://schemas.microsoft.com/office/powerpoint/2010/main" val="619124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D711E-8452-4ECF-82FC-49E8B721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Успехи и провалы: что произошло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D58D0-1531-4F18-8F50-3F6F5A2E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238750"/>
                <a:gridCol w="3400425"/>
              </a:tblGrid>
              <a:tr h="790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Случай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Наблюдаемое поведение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Причина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T1  Месяцы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Все три варианта дают верный ответ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Обычная группировка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T3  Средний чек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Single и MAS исправляют SQL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Поле amount вместо total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T5  Выручка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Single: 17 495, MAS: 15 260</a:t>
                      </a:r>
                    </a:p>
                    <a:p>
                      <a:r>
                        <a:rPr sz="187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Эталон: 15 260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Пропущен фильтр статуса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T6  Возвраты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Workflow не формирует ответ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 нужного шаблона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D2B08-9E01-440D-9472-EC1F3BE4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rPr>
              <a:t>Ошибки T3 и T5 внесены в demo намеренно и одинаково для Single и MAS.</a:t>
            </a:r>
          </a:p>
        </p:txBody>
      </p:sp>
    </p:spTree>
    <p:extLst>
      <p:ext uri="{BB962C8B-B14F-4D97-AF65-F5344CB8AC3E}">
        <p14:creationId xmlns:p14="http://schemas.microsoft.com/office/powerpoint/2010/main" val="4740738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DF604-B70F-4DEF-9DA4-7D3FB214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Следующий шаг: реальный LLM-прогон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A6318-C474-4D30-9D52-685CF4F0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618C5-E1C7-4443-B195-D44EAA31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A9398-C03D-4E52-A621-D1DB20FB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685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Одна модель и одинаковый общий бюджет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6E9D0-AD5D-4006-A681-797552FC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209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Точный ID модели, тарифы и дата попадут в отчёт.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2E43A-54B9-4506-9AD9-526F5D24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4C9F7-2D5E-4D4C-A8AA-AD48685E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71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6 задач × 3 варианта × 5 повторов = 90 запусков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18941-E3EF-4442-8174-E265C755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5623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Измерить качество, usage, стоимость и время. Проверить сводки вручную.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F462D-F3C9-4BBA-B5EA-D715C32F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346DD-FAC9-4744-BB3C-60B485FC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481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Больше скрытых задач и MAS без Critic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C8E97-0B7B-479C-9320-B78FDE04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0101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Проверить, окупается ли отдельная роль верификации.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FD31F-0E79-45CF-AD00-3CC36FA7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rPr>
              <a:t>Предварительный результат: каркас работает, гипотеза о качестве ещё не проверена.</a:t>
            </a:r>
          </a:p>
        </p:txBody>
      </p:sp>
    </p:spTree>
    <p:extLst>
      <p:ext uri="{BB962C8B-B14F-4D97-AF65-F5344CB8AC3E}">
        <p14:creationId xmlns:p14="http://schemas.microsoft.com/office/powerpoint/2010/main" val="17172832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19746-C996-4A3B-B79B-4F076C3F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Личный вклад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144E2-8FF5-443F-A6BF-BDA34AA1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8F92D-72E7-4C61-A65F-1E4AE710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BD573A"/>
                </a:solidFill>
                <a:latin typeface="Helvetica Neue"/>
                <a:ea typeface="Helvetica Neue"/>
                <a:cs typeface="Helvetica Neue"/>
              </a:rPr>
              <a:t>Предлагаемое распределение. Выполнение участниками ещё не подтверждено.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8255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Участник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Зона ответственности для проверки и доработки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Романов Сергей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Workflow и одиночный агент</a:t>
                      </a:r>
                    </a:p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Подключение LLM, обработка ошибок, журнал вызовов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Александра Железнова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MAS и тестовые задачи</a:t>
                      </a:r>
                    </a:p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Прогоны, сводка метрик, разбор ошибок и результаты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7B7BA-7B02-4B9B-98FD-C6FC3F71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К 22 октября: заменить распределение фактически выполненным вкладом.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401DB-02EA-4AC9-9F94-E5174B62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Учебный каркас и презентация подготовлены с помощью ИИ.</a:t>
            </a:r>
          </a:p>
        </p:txBody>
      </p:sp>
    </p:spTree>
    <p:extLst>
      <p:ext uri="{BB962C8B-B14F-4D97-AF65-F5344CB8AC3E}">
        <p14:creationId xmlns:p14="http://schemas.microsoft.com/office/powerpoint/2010/main" val="733841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2026-10-18T16:13:31.5890000Z</dcterms:created>
  <dcterms:modified xsi:type="dcterms:W3CDTF">2026-10-18T16:13:31.5890000Z</dcterms:modified>
</coreProperties>
</file>
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9155bf6d394eef" /><Relationship Type="http://schemas.openxmlformats.org/officeDocument/2006/relationships/extended-properties" Target="/docProps/app.xml" Id="Red2d3fef2fb34c56" /><Relationship Type="http://schemas.openxmlformats.org/officeDocument/2006/relationships/officeDocument" Target="/ppt/presentation.xml" Id="Rd84cf4d1f2e642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30a90681e14b58"/>
  </p:sldMasterIdLst>
  <p:notesMasterIdLst>
    <p:notesMasterId xmlns:r="http://schemas.openxmlformats.org/officeDocument/2006/relationships" r:id="R5f4ae280ef3f45bf"/>
  </p:notesMasterIdLst>
  <p:sldIdLst>
    <p:sldId xmlns:r="http://schemas.openxmlformats.org/officeDocument/2006/relationships" id="256" r:id="Re8ebec2c1f0e4298"/>
    <p:sldId xmlns:r="http://schemas.openxmlformats.org/officeDocument/2006/relationships" id="257" r:id="Re8a2e0bc593b4a6d"/>
    <p:sldId xmlns:r="http://schemas.openxmlformats.org/officeDocument/2006/relationships" id="258" r:id="Rb5bb80b6f47f47ce"/>
    <p:sldId xmlns:r="http://schemas.openxmlformats.org/officeDocument/2006/relationships" id="259" r:id="R2289036950d5472a"/>
    <p:sldId xmlns:r="http://schemas.openxmlformats.org/officeDocument/2006/relationships" id="260" r:id="Rba7d83533a024f0b"/>
    <p:sldId xmlns:r="http://schemas.openxmlformats.org/officeDocument/2006/relationships" id="261" r:id="R4558036081e9429b"/>
    <p:sldId xmlns:r="http://schemas.openxmlformats.org/officeDocument/2006/relationships" id="262" r:id="Rea40c35ac7ac4679"/>
    <p:sldId xmlns:r="http://schemas.openxmlformats.org/officeDocument/2006/relationships" id="263" r:id="Rd5f61030a8e24ff7"/>
    <p:sldId xmlns:r="http://schemas.openxmlformats.org/officeDocument/2006/relationships" id="264" r:id="Rd6596150d3be4a4a"/>
    <p:sldId xmlns:r="http://schemas.openxmlformats.org/officeDocument/2006/relationships" id="265" r:id="Rcb9ce52fb2a943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e956a06b9d435c" /><Relationship Type="http://schemas.openxmlformats.org/officeDocument/2006/relationships/slideMaster" Target="/ppt/slideMasters/slideMaster1.xml" Id="R1630a90681e14b58" /><Relationship Type="http://schemas.openxmlformats.org/officeDocument/2006/relationships/notesMaster" Target="/ppt/notesMasters/notesMaster1.xml" Id="R5f4ae280ef3f45bf" /><Relationship Type="http://schemas.openxmlformats.org/officeDocument/2006/relationships/presProps" Target="/ppt/presProps.xml" Id="R94ad82706d974a0b" /><Relationship Type="http://schemas.openxmlformats.org/officeDocument/2006/relationships/tableStyles" Target="/ppt/tableStyles.xml" Id="Reb941e0538ec4bfd" /><Relationship Type="http://schemas.openxmlformats.org/officeDocument/2006/relationships/slide" Target="/ppt/slides/slide1.xml" Id="Re8ebec2c1f0e4298" /><Relationship Type="http://schemas.openxmlformats.org/officeDocument/2006/relationships/slide" Target="/ppt/slides/slide2.xml" Id="Re8a2e0bc593b4a6d" /><Relationship Type="http://schemas.openxmlformats.org/officeDocument/2006/relationships/slide" Target="/ppt/slides/slide3.xml" Id="Rb5bb80b6f47f47ce" /><Relationship Type="http://schemas.openxmlformats.org/officeDocument/2006/relationships/slide" Target="/ppt/slides/slide4.xml" Id="R2289036950d5472a" /><Relationship Type="http://schemas.openxmlformats.org/officeDocument/2006/relationships/slide" Target="/ppt/slides/slide5.xml" Id="Rba7d83533a024f0b" /><Relationship Type="http://schemas.openxmlformats.org/officeDocument/2006/relationships/slide" Target="/ppt/slides/slide6.xml" Id="R4558036081e9429b" /><Relationship Type="http://schemas.openxmlformats.org/officeDocument/2006/relationships/slide" Target="/ppt/slides/slide7.xml" Id="Rea40c35ac7ac4679" /><Relationship Type="http://schemas.openxmlformats.org/officeDocument/2006/relationships/slide" Target="/ppt/slides/slide8.xml" Id="Rd5f61030a8e24ff7" /><Relationship Type="http://schemas.openxmlformats.org/officeDocument/2006/relationships/slide" Target="/ppt/slides/slide9.xml" Id="Rd6596150d3be4a4a" /><Relationship Type="http://schemas.openxmlformats.org/officeDocument/2006/relationships/slide" Target="/ppt/slides/slide10.xml" Id="Rcb9ce52fb2a943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8bcb04c59e48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b5487cb7104779" /><Relationship Type="http://schemas.openxmlformats.org/officeDocument/2006/relationships/notesMaster" Target="/ppt/notesMasters/notesMaster1.xml" Id="R4b55fc1bdb7444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53777b41194735" /><Relationship Type="http://schemas.openxmlformats.org/officeDocument/2006/relationships/notesMaster" Target="/ppt/notesMasters/notesMaster1.xml" Id="R4bff784dc20145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53445a8e424c1d" /><Relationship Type="http://schemas.openxmlformats.org/officeDocument/2006/relationships/notesMaster" Target="/ppt/notesMasters/notesMaster1.xml" Id="R4c24a4ea4b804e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e5cd9beb884bc6" /><Relationship Type="http://schemas.openxmlformats.org/officeDocument/2006/relationships/notesMaster" Target="/ppt/notesMasters/notesMaster1.xml" Id="R8923b626f3d143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3ab9fe98534c82" /><Relationship Type="http://schemas.openxmlformats.org/officeDocument/2006/relationships/notesMaster" Target="/ppt/notesMasters/notesMaster1.xml" Id="Rbfd8128ee09e4a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4a52a42770463e" /><Relationship Type="http://schemas.openxmlformats.org/officeDocument/2006/relationships/notesMaster" Target="/ppt/notesMasters/notesMaster1.xml" Id="Rbacb92e4e63d4e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c63657de17407c" /><Relationship Type="http://schemas.openxmlformats.org/officeDocument/2006/relationships/notesMaster" Target="/ppt/notesMasters/notesMaster1.xml" Id="R2790736e64654b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108282e5924802" /><Relationship Type="http://schemas.openxmlformats.org/officeDocument/2006/relationships/notesMaster" Target="/ppt/notesMasters/notesMaster1.xml" Id="R06934f69e29545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e7ec4273f74892" /><Relationship Type="http://schemas.openxmlformats.org/officeDocument/2006/relationships/notesMaster" Target="/ppt/notesMasters/notesMaster1.xml" Id="Rdc96cb73de034c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b8f7d2dbe844f7" /><Relationship Type="http://schemas.openxmlformats.org/officeDocument/2006/relationships/notesMaster" Target="/ppt/notesMasters/notesMaster1.xml" Id="R504aed858bcc41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секунд. Сергей: Мы сравнили три способа анализа SQL-данных: workflow, одиночного агента и MAS. В этой версии представлены реальные результаты qwen/qwen3.5-9b через Polza.ai: 90 запусков на одной учебной базе. Проверяем качество и время, отдельно отмечаем неполный учёт затрат. Источники: предоставленные пользователем metrics.csv, report.html и results (1).json. CSV и JSON сверены по всем 90 запускам. Время старта прогона по config: 18.10.2026, 18:38:48 UTC (21:38:48 МСК). Презентация обновлена 22.10.2026.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секунд. Сергей: Workflow использует готовые SQL-шаблоны и поддерживает пять типов вопросов. Single сам выбирает SQL, получает ответ или ошибку инструмента и пишет отчёт. MAS использует четыре роли. В этом эксперименте оба агентных варианта вызывали настоящую LLM. Данные и инструменты SQL, статистики и построения графиков общие. Источники: предоставленные пользователем metrics.csv, report.html и results (1).json. CSV и JSON сверены по всем 90 запускам. Время старта прогона по config: 18.10.2026, 18:38:48 UTC (21:38:48 МСК). Презентация обновлена 22.10.2026.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секунд. Александра: Planner задаёт подзадачи и порядок ролей. SQL Agent формирует запрос, PostgreSQL возвращает таблицу. Analyst использует таблицу и статистику для графика и сводки. Critic принимает ответ или возвращает замечание в чёрную доску. Новая попытка получает накопленную историю. Эталонные SQL не передаются агентам. Источники: предоставленные пользователем metrics.csv, report.html и results (1).json. CSV и JSON сверены по всем 90 запускам. Время старта прогона по config: 18.10.2026, 18:38:48 UTC (21:38:48 МСК). Презентация обновлена 22.10.2026.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 секунд. Сергей: Использована модель qwen/qwen3.5-9b через Polza.ai и PostgreSQL 16.2. Шесть задач по пять повторов для трёх вариантов дали 90 запусков, по 30 на вариант. Общий предел на задачу: 12 вызовов, 16 тысяч токенов, две попытки и 120 секунд, до 700 выходных токенов на вызов. Оценщик проверяет таблицу вместе с точными метками строк, тип графика и наличие сводки. Для итогового успеха MAS Critic должен принять ответ. Ошибки и незавершённые попытки включены в знаменатель и время. Источники: предоставленные пользователем metrics.csv, report.html и results (1).json. CSV и JSON сверены по всем 90 запускам. Время старта прогона по config: 18.10.2026, 18:38:48 UTC (21:38:48 МСК). Презентация обновлена 22.10.2026.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секунд. Александра: На искусственной базе из 48 заказов и 6 покупателей проверяем шесть вопросов: выручку по месяцам и категориям, средний чек, уникальных покупателей, общую выручку и долю возвратов. Есть отменённые заказы и несколько причин возврата одного заказа. Числа графика T1 совпадают с приложенным результатом: 4740, 5405 и 5115. Источники: предоставленные пользователем metrics.csv, report.html и results (1).json. CSV и JSON сверены по всем 90 запускам. Время старта прогона по config: 18.10.2026, 18:38:48 UTC (21:38:48 МСК). Презентация обновлена 22.10.2026.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 секунд. Сергей: По исходной автоматической метрике workflow получил 25 итоговых успехов из 30, Single 10 из 30, MAS 4 из 30. Это 83,3%, 33,3% и 13,3%. Среднее время с учётом неудач — 0,113, 23,184 и 41,751 секунды. Первый успех Single — 6 из 30, итоговый — 10, значит исправления иногда помогают. У MAS первый успех 7, итоговый 4: четыре верных первых кандидата не завершились принятием, а один неверный кандидат удалось исправить. Метрика строгая: правильное число с другой подписью также считается провалом. Это вывод для данной модели и реализации на маленьком известном наборе, а не универсальное сравнение архитектур. Медианы: 0,125, 19,953 и 36,281 секунды. Источники: предоставленные пользователем metrics.csv, report.html и results (1).json. CSV и JSON сверены по всем 90 запускам. Время старта прогона по config: 18.10.2026, 18:38:48 UTC (21:38:48 МСК). Презентация обновлена 22.10.2026.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секунд. Александра: Single сделал 73 API-вызова, MAS — 118. По JSON известный расход составляет как минимум 49335 и 146615 токенов. Это нижние границы, а не полный расход: по четыре запуска каждого агентного варианта закончились тайм-аутом TLS, полного usage по ним нет. Включена известная часть расхода до сбоя. Входные и выходные токены: Single 42589 + 6746, MAS 121266 + 25349. В файлах тарифы не заданы, поэтому стоимость остаётся неизвестной. Workflow API не вызывает. Источники: предоставленные пользователем metrics.csv, report.html и results (1).json. CSV и JSON сверены по всем 90 запускам. Время старта прогона по config: 18.10.2026, 18:38:48 UTC (21:38:48 МСК). Презентация обновлена 22.10.2026.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секунд. Александра: В T6, повтор 2, MAS правильно посчитала долю возвратов: Казань 14,3%, Москва и Тула по 21,4%. В T4, повтор 2, Single посчитал 14 заказов вместо двух покупателей в каждом регионе. В T5, повтор 1, число 15260 правильное, но подпись total_revenue_completed_orders отличается от эталонного «Всего», поэтому исходный оценщик засчитал провал. В T2, повтор 5, MAS дала правильную таблицу, однако Critic потребовал учитывать возвраты, которых вопрос не требовал. Переделку остановил предохранитель бюджета. Такие остановки означают отказ следующему вызову по резерву промпта, а не доказанное расходование всех 16000 токенов. В MAS таких остановок 12 из 30, ошибок порядка плана 5, сообщений об ошибке разбора JSON 7. Для положительного случая исправления: Single T2 повтор 4 исправил отсутствие нужных колонок и получил итоговый успех. Источники: предоставленные пользователем metrics.csv, report.html и results (1).json. CSV и JSON сверены по всем 90 запускам. Время старта прогона по config: 18.10.2026, 18:38:48 UTC (21:38:48 МСК). Презентация обновлена 22.10.2026.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 секунд. Сергей: В этой конфигурации MAS оказалась медленнее Single и дала меньше итоговых успехов. Часть разницы связана с протоколом: предохранитель бюджета остановил 12 MAS-запусков, встречались неверные планы и ошибки JSON. Следующий шаг — отдельно исправить критерий для технической подписи T5 и нормализовать контракт label/value, сократить передаваемую историю, а затем сравнить MAS с Critic и без него при том же бюджете. На новых скрытых перефразированных задачах повторим прогоны и сохраним тарифы и полный usage. Текущие показатели исходного оценщика в презентации не пересчитывались. Источники: предоставленные пользователем metrics.csv, report.html и results (1).json. CSV и JSON сверены по всем 90 запускам. Время старта прогона по config: 18.10.2026, 18:38:48 UTC (21:38:48 МСК). Презентация обновлена 22.10.2026.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секунд. Александра: Этот слайд сохраняет предложенное ранее распределение зон ответственности. Сергей — workflow, Single, подключение LLM и журнал. Александра — MAS, задачи, сводка измерений и разбор провалов. Предоставленные результаты подтверждают факт реального прогона, но не показывают, кто выполнил каждую работу. Перед выступлением необходимо указать фактический вклад участников, не выдавая это распределение за подтверждённый факт. Каркас и слайды подготовлены с помощью ИИ. Источники: предоставленные пользователем metrics.csv, report.html и results (1).json. CSV и JSON сверены по всем 90 запускам. Время старта прогона по config: 18.10.2026, 18:38:48 UTC (21:38:48 МСК). Презентация обновлена 22.10.2026.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5a9389350640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04857da2aa4fb7" /><Relationship Type="http://schemas.openxmlformats.org/officeDocument/2006/relationships/slideLayout" Target="/ppt/slideLayouts/slideLayout1.xml" Id="R050617f7caf042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0617f7caf042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f59b337e44fb4" /><Relationship Type="http://schemas.openxmlformats.org/officeDocument/2006/relationships/notesSlide" Target="/ppt/notesSlides/notesSlide1.xml" Id="R7b8d4e5fd5244a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be34bb8874178" /><Relationship Type="http://schemas.openxmlformats.org/officeDocument/2006/relationships/notesSlide" Target="/ppt/notesSlides/notesSlide2.xml" Id="Re7ebb3023a7245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edf5aefcf4fc8" /><Relationship Type="http://schemas.openxmlformats.org/officeDocument/2006/relationships/notesSlide" Target="/ppt/notesSlides/notesSlide3.xml" Id="Rcf3fef3936d04f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2b227c64d44f2" /><Relationship Type="http://schemas.openxmlformats.org/officeDocument/2006/relationships/notesSlide" Target="/ppt/notesSlides/notesSlide4.xml" Id="R5805aeb4a9d74c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bd6533381478c" /><Relationship Type="http://schemas.openxmlformats.org/officeDocument/2006/relationships/chart" Target="/ppt/slides/charts/chart1.xml" Id="Rb779eeae712d49fc" /><Relationship Type="http://schemas.openxmlformats.org/officeDocument/2006/relationships/notesSlide" Target="/ppt/notesSlides/notesSlide5.xml" Id="R1c9ecc8386e04e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ca47b048845ab" /><Relationship Type="http://schemas.openxmlformats.org/officeDocument/2006/relationships/notesSlide" Target="/ppt/notesSlides/notesSlide6.xml" Id="R0930c439070b47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1ff09151548d2" /><Relationship Type="http://schemas.openxmlformats.org/officeDocument/2006/relationships/notesSlide" Target="/ppt/notesSlides/notesSlide7.xml" Id="Rd0c22ca66a1d42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508c9e7814f1e" /><Relationship Type="http://schemas.openxmlformats.org/officeDocument/2006/relationships/notesSlide" Target="/ppt/notesSlides/notesSlide8.xml" Id="R15e312f101174a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7a86c22c844fa" /><Relationship Type="http://schemas.openxmlformats.org/officeDocument/2006/relationships/notesSlide" Target="/ppt/notesSlides/notesSlide9.xml" Id="R4d5dd4b2257b42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83bdea5324070" /><Relationship Type="http://schemas.openxmlformats.org/officeDocument/2006/relationships/notesSlide" Target="/ppt/notesSlides/notesSlide10.xml" Id="R0479b885b3b74a4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Выручка, усл. руб.</c:v>
          </c:tx>
          <c:spPr>
            <a:solidFill xmlns:a="http://schemas.openxmlformats.org/drawingml/2006/main">
              <a:srgbClr val="087F8C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4740</c:v>
                </c:pt>
                <c:pt idx="1">
                  <c:v>5405</c:v>
                </c:pt>
                <c:pt idx="2">
                  <c:v>5115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83340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6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0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3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04EAC-316A-49E1-B6B6-E962C1DE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SQL-данные в PostgreSQL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DBC05-12F0-4414-99CF-C5A083A0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Workflow, одиночный агент</a:t>
            </a:r>
          </a:p>
          <a:p xmlns:a="http://schemas.openxmlformats.org/drawingml/2006/main">
            <a:pPr>
              <a:buNone/>
              <a:defRPr sz="34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 мультиагентная команда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32C77-4B67-4562-A63D-D4E7762D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69D3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69D3D1"/>
                </a:solidFill>
                <a:latin typeface="Helvetica Neue"/>
                <a:ea typeface="Helvetica Neue"/>
                <a:cs typeface="Helvetica Neue"/>
              </a:rPr>
              <a:t>Качество ответа, затраты и время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0E646-E04D-4B59-9C30-F83DD704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Романов Сергей</a:t>
            </a:r>
          </a:p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Александра Железнова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1EF26-0E22-4F58-A88A-C67E18AB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0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0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0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0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0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0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0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0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0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0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rPr>
              <a:t>Результаты LLM-прогона. Защита 22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6026053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7B5CA-5E05-4BE3-ABCE-29FCBD44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Три работающих варианта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6D4C3-8A6A-4274-82AB-D6B28206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1EBFC-2306-4FCD-BABC-BE63D0A15133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953000"/>
                <a:gridCol w="3924300"/>
              </a:tblGrid>
              <a:tr h="8858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Вариант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Как решает задачу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Граница прототипа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Workflow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SQL-шаблон и готовый отчёт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поддерживаемых типов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Один агент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Сам выбирает SQL и сводку</a:t>
                      </a:r>
                    </a:p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Получает ошибки инструментов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Нет отдельного проверяющего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MAS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Planner, SQL, Analyst, Critic</a:t>
                      </a:r>
                    </a:p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Общее состояние и переделки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 2 циклов на задачу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96351-EF8E-4645-8952-56CDD0DC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Общие инструменты: PostgreSQL, статистика, график и журнал действий</a:t>
            </a:r>
          </a:p>
        </p:txBody>
      </p:sp>
    </p:spTree>
    <p:extLst>
      <p:ext uri="{BB962C8B-B14F-4D97-AF65-F5344CB8AC3E}">
        <p14:creationId xmlns:p14="http://schemas.microsoft.com/office/powerpoint/2010/main" val="19959957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522DA-95B0-43A2-9138-CA4E3B03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MAS и общая чёрная доска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77DB7-B427-4073-97E0-7ECA4D5B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5F76C-820C-4A41-B58D-5743D4CB89AB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924800"/>
              </a:tblGrid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Роль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Результат в общем состоянии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 Planner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Подзадачи, порядок вызовов и инструкции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 SQL Agent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SQL-запрос и таблица результата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  Analyst Agent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Статистика, тип графика и сводка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 Critic / Verifier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Принятие ответа или причина переделки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85E64-A353-42BC-AAC1-F935B34C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Чёрная доска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94808-0557-45F4-8566-5AFF58E3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Вопрос, план, SQL, данные, отчёт, ошибки и история сообщений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41579-299D-4AB1-88E9-43E73085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Отказ Critic запускает новый цикл с сохранёнными замечаниями</a:t>
            </a:r>
          </a:p>
        </p:txBody>
      </p:sp>
    </p:spTree>
    <p:extLst>
      <p:ext uri="{BB962C8B-B14F-4D97-AF65-F5344CB8AC3E}">
        <p14:creationId xmlns:p14="http://schemas.microsoft.com/office/powerpoint/2010/main" val="17438157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C2758-EE99-434F-9C94-6EDC4D5D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Условия сравнения и критерий успеха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28F0B-F9DC-4D7F-94D8-62350569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9778E-BB55-432A-941C-19217928D887}"/>
              </a:ext>
            </a:extLst>
          </p:cNvPr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20050"/>
              </a:tblGrid>
              <a:tr h="8429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Параметр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Общее правило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Данные и модель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qwen/qwen3.5-9b через Polza.ai</a:t>
                      </a:r>
                    </a:p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PostgreSQL 16.2. Шесть задач, пять повторов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Лимиты на задачу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 вызовов, 16 000 токенов, 120 с</a:t>
                      </a:r>
                    </a:p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попытки, 700 выходных токенов на вызов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Успех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Эталонная таблица, включая метки строк</a:t>
                      </a:r>
                    </a:p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Верный график и сводка с проверяемым числом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0F30E-EE2F-4DD4-812C-92E37C61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90 запусков. Неудачи включены в качество, время и расход.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D6CD6-9523-4E7A-9634-54DAFF06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Первый успех: первый кандидат. Итоговый: завершённый отчёт.</a:t>
            </a:r>
          </a:p>
        </p:txBody>
      </p:sp>
    </p:spTree>
    <p:extLst>
      <p:ext uri="{BB962C8B-B14F-4D97-AF65-F5344CB8AC3E}">
        <p14:creationId xmlns:p14="http://schemas.microsoft.com/office/powerpoint/2010/main" val="1640166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4EBE7-94CC-4B29-B6A1-06F1EDE6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Общий набор: шесть SQL-вопросов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2ECF1-9D4E-46FA-B384-8D54A3B0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26DE1-9911-44D2-A4A6-35321CBC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T1   Выручка по месяцам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5315C-F1FA-4BD1-B1C1-70B0024B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T2   Выручка по категориям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C5A54-BA81-416F-87DA-33228C6B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T3   Средний чек по регионам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C38AE-7D24-4E92-8D0F-0D1E8A97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T4   Уникальные покупатели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BF889-8BE6-4470-800C-8FCD6345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T5   Общая выручка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B8452-C17F-4440-A125-39430F06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T6   Доля заказов с возвратами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DCF8D-AFB9-4E8E-8967-56EC543C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002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T1: выручка, условные рубли</a:t>
            </a:r>
          </a:p>
        </p:txBody>
      </p:sp>
      <p:graphicFrame>
        <p:nvGraphicFramePr>
          <p:cNvPr id="21" name="Chart">
            <a:extLst xmlns:a="http://schemas.openxmlformats.org/drawingml/2006/main">
              <a:ext uri="{FF2B5EF4-FFF2-40B4-BE49-F238E27FC236}">
                <a16:creationId xmlns:a16="http://schemas.microsoft.com/office/drawing/2014/main" id="{B9CCC005-4D08-49D3-866A-E6996D276C09}"/>
              </a:ext>
            </a:extLst>
          </p:cNvPr>
          <p:cNvGraphicFramePr/>
          <p:nvPr/>
        </p:nvGraphicFramePr>
        <p:xfrm>
          <a:off xmlns:a="http://schemas.openxmlformats.org/drawingml/2006/main" x="6334125" y="2238375"/>
          <a:ext xmlns:a="http://schemas.openxmlformats.org/drawingml/2006/main" cx="5238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79eeae712d49fc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A5A37-061F-4DAC-82A8-B1B164ED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48 заказов за январь–март 2026. Данные искусственные.</a:t>
            </a:r>
          </a:p>
        </p:txBody>
      </p:sp>
    </p:spTree>
    <p:extLst>
      <p:ext uri="{BB962C8B-B14F-4D97-AF65-F5344CB8AC3E}">
        <p14:creationId xmlns:p14="http://schemas.microsoft.com/office/powerpoint/2010/main" val="11584192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CC90D-3248-4A59-B593-6708EE35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Итоговый успех в реальном прогоне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6758D-54E6-4290-ADF9-95012254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3C16F-68B9-4CE6-A3E1-F9C793E9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Шесть задач, пять повторов. По 30 запусков на вариант.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13B72-3BB8-4E0F-8683-C92DF7A8040F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714500"/>
                <a:gridCol w="1714500"/>
                <a:gridCol w="2095500"/>
                <a:gridCol w="2590800"/>
              </a:tblGrid>
              <a:tr h="69056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Вариант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Сразу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Итог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Среднее, с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Вызовы API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Workflow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25/30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25/30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0,113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Один агент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6/30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10/30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23,184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73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MAS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7/30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4/30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41,751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118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A54E1-C4A2-4ADB-B21C-18C9EDBF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В среднем MAS в 1,8 раза медленнее одиночного агента.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1326B-5881-4481-BEE1-59A61E08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7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У MAS четыре верных первых кандидата не дошли до принятия.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Успех включает точные метки строк, в том числе «Всего» для T5.</a:t>
            </a:r>
          </a:p>
        </p:txBody>
      </p:sp>
    </p:spTree>
    <p:extLst>
      <p:ext uri="{BB962C8B-B14F-4D97-AF65-F5344CB8AC3E}">
        <p14:creationId xmlns:p14="http://schemas.microsoft.com/office/powerpoint/2010/main" val="6191246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EE4C2-2FC0-46D4-84A3-C55D2B7C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Токены и полнота измерения затрат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47CE2-8D46-44B4-81AB-51AEF8F5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Учтены успешные вызовы и известная часть неудачных запусков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019D3-4130-4E77-AE34-937B8D522876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190750"/>
                <a:gridCol w="3448050"/>
                <a:gridCol w="2667000"/>
              </a:tblGrid>
              <a:tr h="69056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Вариант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D3DDDC"/>
                      </a:solidFill>
                      <a:prstDash val="solid"/>
                    </a:lnL>
                    <a:lnR w="9525">
                      <a:solidFill>
                        <a:srgbClr val="D3DDDC"/>
                      </a:solidFill>
                      <a:prstDash val="solid"/>
                    </a:lnR>
                    <a:lnT w="9525">
                      <a:solidFill>
                        <a:srgbClr val="D3DDDC"/>
                      </a:solidFill>
                      <a:prstDash val="solid"/>
                    </a:lnT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Вызовы API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T w="9525">
                      <a:solidFill>
                        <a:srgbClr val="D3DDDC"/>
                      </a:solidFill>
                      <a:prstDash val="solid"/>
                    </a:lnT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Известные токены¹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T w="9525">
                      <a:solidFill>
                        <a:srgbClr val="D3DDDC"/>
                      </a:solidFill>
                      <a:prstDash val="solid"/>
                    </a:lnT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Полный usage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T w="9525">
                      <a:solidFill>
                        <a:srgbClr val="D3DDDC"/>
                      </a:solidFill>
                      <a:prstDash val="solid"/>
                    </a:lnT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183340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Workflow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D3DDDC"/>
                      </a:solidFill>
                      <a:prstDash val="solid"/>
                    </a:lnL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30/30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Один агент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D3DDDC"/>
                      </a:solidFill>
                      <a:prstDash val="solid"/>
                    </a:lnL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73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≥ 49 335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26/30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MAS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D3DDDC"/>
                      </a:solidFill>
                      <a:prstDash val="solid"/>
                    </a:lnL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118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≥ 146 615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26/30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0E00C-EDC9-4823-A935-E423DC40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rPr>
              <a:t>Стоимость не рассчитана: тарифы не заданы.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44229-741D-4534-801A-A4D021A9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¹ Нижняя граница расхода. У Single и MAS по 4 запуска без полного usage.</a:t>
            </a:r>
          </a:p>
          <a:p xmlns:a="http://schemas.openxmlformats.org/drawingml/2006/main">
            <a:pPr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Всего восемь запусков с тайм-аутом TLS-соединения.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C971A-3001-4FEA-B714-D97AFCC7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546764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D711E-8452-4ECF-82FC-49E8B721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Успехи и провалы: что произошло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D58D0-1531-4F18-8F50-3F6F5A2E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EBA83-0AE2-464A-872B-59DFD5D541DC}"/>
              </a:ext>
            </a:extLst>
          </p:cNvPr>
          <p:cNvGraphicFramePr/>
          <p:nvPr/>
        </p:nvGraphicFramePr>
        <p:xfrm>
          <a:off xmlns:a="http://schemas.openxmlformats.org/drawingml/2006/main" x="609600" y="1533525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5238750"/>
                <a:gridCol w="3400425"/>
              </a:tblGrid>
              <a:tr h="790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Случай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Наблюдаемое поведение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Причина / смысл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T6, MAS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Повтор 2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Казань: 14,3%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Москва и Тула: 21,4%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Корректный расчёт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уникальных заказов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T4, Single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Повтор 2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 вместо 2 покупателей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 каждом регионе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Посчитаны заказы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вместо покупателей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T5, Single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Повтор 1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Выручка 15 260 верна,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но label ≠ «Всего»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Провал по формату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оценщика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T2, MAS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Повтор 5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Верный ответ отклонён,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переделка остановилась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Ложная критика.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Предохранитель бюджета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D2B08-9E01-440D-9472-EC1F3BE4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rPr>
              <a:t>Ошибки из реального прогона. Специальных ошибок в live не вводили.</a:t>
            </a:r>
          </a:p>
        </p:txBody>
      </p:sp>
    </p:spTree>
    <p:extLst>
      <p:ext uri="{BB962C8B-B14F-4D97-AF65-F5344CB8AC3E}">
        <p14:creationId xmlns:p14="http://schemas.microsoft.com/office/powerpoint/2010/main" val="4740738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DF604-B70F-4DEF-9DA4-7D3FB214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Выводы и следующий эксперимент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A6318-C474-4D30-9D52-685CF4F0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618C5-E1C7-4443-B195-D44EAA31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A9398-C03D-4E52-A621-D1DB20FB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685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Уточнить критерий и формат ответа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6E9D0-AD5D-4006-A681-797552FC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209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Фиксировать label и value. Проверять число T5 отдельно от подписи.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2E43A-54B9-4506-9AD9-526F5D24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4C9F7-2D5E-4D4C-A8AA-AD48685E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718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Сократить состояние и проверить Critic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18941-E3EF-4442-8174-E265C755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5623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Убрать лишнюю историю. Сравнить MAS с Critic и без него.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F462D-F3C9-4BBA-B5EA-D715C32F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346DD-FAC9-4744-BB3C-60B485FC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481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Повторить эксперимент с полными затратами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C8E97-0B7B-479C-9320-B78FDE04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0101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Скрытые перефразировки, больше повторов, тарифы и полный usage.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FD31F-0E79-45CF-AD00-3CC36FA7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rPr>
              <a:t>Вывод предварительный: важны модель, лимиты и строгость оценщика.</a:t>
            </a:r>
          </a:p>
        </p:txBody>
      </p:sp>
    </p:spTree>
    <p:extLst>
      <p:ext uri="{BB962C8B-B14F-4D97-AF65-F5344CB8AC3E}">
        <p14:creationId xmlns:p14="http://schemas.microsoft.com/office/powerpoint/2010/main" val="17172832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19746-C996-4A3B-B79B-4F076C3F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Личный вклад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144E2-8FF5-443F-A6BF-BDA34AA1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8F92D-72E7-4C61-A65F-1E4AE710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02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rPr>
              <a:t>Распределение из прототипа. Фактический вклад нужно подтвердить.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5BD6B-EBBA-4A9C-A5E8-B28161F717ED}"/>
              </a:ext>
            </a:extLst>
          </p:cNvPr>
          <p:cNvGraphicFramePr/>
          <p:nvPr/>
        </p:nvGraphicFramePr>
        <p:xfrm>
          <a:off xmlns:a="http://schemas.openxmlformats.org/drawingml/2006/main" x="609600" y="233362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8255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Участник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Зона ответственности для проверки и доработки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Романов Сергей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Workflow и одиночный агент</a:t>
                      </a:r>
                    </a:p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Подключение LLM, обработка ошибок, журнал вызовов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Александра Железнова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MAS и тестовые задачи</a:t>
                      </a:r>
                    </a:p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Прогоны, сводка метрик, разбор ошибок и результаты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7B7BA-7B02-4B9B-98FD-C6FC3F71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Для защиты 22 октября: подтвердить фактический вклад участников.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401DB-02EA-4AC9-9F94-E5174B62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Учебный каркас и презентация подготовлены с помощью ИИ.</a:t>
            </a:r>
          </a:p>
        </p:txBody>
      </p:sp>
    </p:spTree>
    <p:extLst>
      <p:ext uri="{BB962C8B-B14F-4D97-AF65-F5344CB8AC3E}">
        <p14:creationId xmlns:p14="http://schemas.microsoft.com/office/powerpoint/2010/main" val="733841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2026-10-22T12:49:52.7070000Z</dcterms:created>
  <dcterms:modified xsi:type="dcterms:W3CDTF">2026-10-22T12:49:52.7070000Z</dcterms:modified>
</coreProperties>
</file>
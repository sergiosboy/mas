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61f3ecb690c4633" /><Relationship Type="http://schemas.openxmlformats.org/officeDocument/2006/relationships/extended-properties" Target="/docProps/app.xml" Id="Rec3df04fdf494dad" /><Relationship Type="http://schemas.openxmlformats.org/officeDocument/2006/relationships/officeDocument" Target="/ppt/presentation.xml" Id="R894a975d3a4046d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d25698a0e40da"/>
  </p:sldMasterIdLst>
  <p:notesMasterIdLst>
    <p:notesMasterId xmlns:r="http://schemas.openxmlformats.org/officeDocument/2006/relationships" r:id="R8a693cd26b7a4338"/>
  </p:notesMasterIdLst>
  <p:sldIdLst>
    <p:sldId xmlns:r="http://schemas.openxmlformats.org/officeDocument/2006/relationships" id="256" r:id="R34d70339daa5420c"/>
    <p:sldId xmlns:r="http://schemas.openxmlformats.org/officeDocument/2006/relationships" id="257" r:id="Rbd9e0789f88c4f7d"/>
    <p:sldId xmlns:r="http://schemas.openxmlformats.org/officeDocument/2006/relationships" id="258" r:id="R1ab86a57da1d4e85"/>
    <p:sldId xmlns:r="http://schemas.openxmlformats.org/officeDocument/2006/relationships" id="259" r:id="Rc758e68134a4406a"/>
    <p:sldId xmlns:r="http://schemas.openxmlformats.org/officeDocument/2006/relationships" id="260" r:id="R63b00eb7f93840f3"/>
    <p:sldId xmlns:r="http://schemas.openxmlformats.org/officeDocument/2006/relationships" id="261" r:id="R6d17591940164936"/>
    <p:sldId xmlns:r="http://schemas.openxmlformats.org/officeDocument/2006/relationships" id="262" r:id="R98f2faa4efb54e7f"/>
    <p:sldId xmlns:r="http://schemas.openxmlformats.org/officeDocument/2006/relationships" id="263" r:id="R1a5a4c5477174fab"/>
    <p:sldId xmlns:r="http://schemas.openxmlformats.org/officeDocument/2006/relationships" id="264" r:id="Rcf1d52b5a67c4ea8"/>
    <p:sldId xmlns:r="http://schemas.openxmlformats.org/officeDocument/2006/relationships" id="265" r:id="Re0ac9e878e5a40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4a278f06d74a2b" /><Relationship Type="http://schemas.openxmlformats.org/officeDocument/2006/relationships/slideMaster" Target="/ppt/slideMasters/slideMaster1.xml" Id="Rd73d25698a0e40da" /><Relationship Type="http://schemas.openxmlformats.org/officeDocument/2006/relationships/notesMaster" Target="/ppt/notesMasters/notesMaster1.xml" Id="R8a693cd26b7a4338" /><Relationship Type="http://schemas.openxmlformats.org/officeDocument/2006/relationships/presProps" Target="/ppt/presProps.xml" Id="R6c540c8b45164450" /><Relationship Type="http://schemas.openxmlformats.org/officeDocument/2006/relationships/tableStyles" Target="/ppt/tableStyles.xml" Id="Reaae63c8dcfc40b1" /><Relationship Type="http://schemas.openxmlformats.org/officeDocument/2006/relationships/slide" Target="/ppt/slides/slide1.xml" Id="R34d70339daa5420c" /><Relationship Type="http://schemas.openxmlformats.org/officeDocument/2006/relationships/slide" Target="/ppt/slides/slide2.xml" Id="Rbd9e0789f88c4f7d" /><Relationship Type="http://schemas.openxmlformats.org/officeDocument/2006/relationships/slide" Target="/ppt/slides/slide3.xml" Id="R1ab86a57da1d4e85" /><Relationship Type="http://schemas.openxmlformats.org/officeDocument/2006/relationships/slide" Target="/ppt/slides/slide4.xml" Id="Rc758e68134a4406a" /><Relationship Type="http://schemas.openxmlformats.org/officeDocument/2006/relationships/slide" Target="/ppt/slides/slide5.xml" Id="R63b00eb7f93840f3" /><Relationship Type="http://schemas.openxmlformats.org/officeDocument/2006/relationships/slide" Target="/ppt/slides/slide6.xml" Id="R6d17591940164936" /><Relationship Type="http://schemas.openxmlformats.org/officeDocument/2006/relationships/slide" Target="/ppt/slides/slide7.xml" Id="R98f2faa4efb54e7f" /><Relationship Type="http://schemas.openxmlformats.org/officeDocument/2006/relationships/slide" Target="/ppt/slides/slide8.xml" Id="R1a5a4c5477174fab" /><Relationship Type="http://schemas.openxmlformats.org/officeDocument/2006/relationships/slide" Target="/ppt/slides/slide9.xml" Id="Rcf1d52b5a67c4ea8" /><Relationship Type="http://schemas.openxmlformats.org/officeDocument/2006/relationships/slide" Target="/ppt/slides/slide10.xml" Id="Re0ac9e878e5a40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cb1ed47700243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459c6eea284ed0" /><Relationship Type="http://schemas.openxmlformats.org/officeDocument/2006/relationships/notesMaster" Target="/ppt/notesMasters/notesMaster1.xml" Id="R0b8695891d9247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d157a040ad4e50" /><Relationship Type="http://schemas.openxmlformats.org/officeDocument/2006/relationships/notesMaster" Target="/ppt/notesMasters/notesMaster1.xml" Id="Rafec4e82a4f94b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6a3ea552a64ab7" /><Relationship Type="http://schemas.openxmlformats.org/officeDocument/2006/relationships/notesMaster" Target="/ppt/notesMasters/notesMaster1.xml" Id="Re6c6e13f219d42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99ef4a544f4cbf" /><Relationship Type="http://schemas.openxmlformats.org/officeDocument/2006/relationships/notesMaster" Target="/ppt/notesMasters/notesMaster1.xml" Id="Rd0ac2a144d6e4f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e5c65c2d2a4f83" /><Relationship Type="http://schemas.openxmlformats.org/officeDocument/2006/relationships/notesMaster" Target="/ppt/notesMasters/notesMaster1.xml" Id="R1cce27535cd941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6ed2a576ea40f7" /><Relationship Type="http://schemas.openxmlformats.org/officeDocument/2006/relationships/notesMaster" Target="/ppt/notesMasters/notesMaster1.xml" Id="Rae635f16efbb42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4e67bd721e4579" /><Relationship Type="http://schemas.openxmlformats.org/officeDocument/2006/relationships/notesMaster" Target="/ppt/notesMasters/notesMaster1.xml" Id="R37fa5138a03d4a7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9442fb6d817440d" /><Relationship Type="http://schemas.openxmlformats.org/officeDocument/2006/relationships/notesMaster" Target="/ppt/notesMasters/notesMaster1.xml" Id="R50f1f864082840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0a4653d578474c" /><Relationship Type="http://schemas.openxmlformats.org/officeDocument/2006/relationships/notesMaster" Target="/ppt/notesMasters/notesMaster1.xml" Id="Ra5174b064bc8482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970b24679f44da1" /><Relationship Type="http://schemas.openxmlformats.org/officeDocument/2006/relationships/notesMaster" Target="/ppt/notesMasters/notesMaster1.xml" Id="Rda8bafcb5fcd44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Сергей: Мы сравнили три способа анализа SQL-данных: workflow, одиночного агента и MAS. В этой версии представлены реальные результаты qwen/qwen3.5-9b через Polza.ai: 90 запусков на одной учебной базе. Проверяем качество и время, отдельно отмечаем неполный учёт затрат.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Сергей: Workflow использует готовые SQL-шаблоны и поддерживает пять типов вопросов. Single сам выбирает SQL, получает ответ или ошибку инструмента и пишет отчёт. MAS использует четыре роли. В этом эксперименте оба агентных варианта вызывали настоящую LLM. Данные и инструменты SQL, статистики и построения графиков общие.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25 секунд. Александра: Planner задаёт подзадачи и порядок ролей. SQL Agent формирует запрос, PostgreSQL возвращает таблицу. Analyst использует таблицу и статистику для графика и сводки. Critic принимает ответ или возвращает замечание в чёрную доску. Новая попытка получает накопленную историю. Эталонные SQL не передаются агентам.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Использована модель qwen/qwen3.5-9b через Polza.ai и PostgreSQL 16.2. Шесть задач по пять повторов для трёх вариантов дали 90 запусков, по 30 на вариант. Общий предел на задачу: 12 вызовов, 16 тысяч токенов, две попытки и 120 секунд, до 700 выходных токенов на вызов. Оценщик проверяет таблицу вместе с точными метками строк, тип графика и наличие сводки. Для итогового успеха MAS Critic должен принять ответ. Ошибки и незавершённые попытки включены в знаменатель и время.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 секунд. Александра: На искусственной базе из 48 заказов и 6 покупателей проверяем шесть вопросов: выручку по месяцам и категориям, средний чек, уникальных покупателей, общую выручку и долю возвратов. Есть отменённые заказы и несколько причин возврата одного заказа. Числа графика T1 совпадают с приложенным результатом: 4740, 5405 и 5115.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40 секунд. Сергей: По исходной автоматической метрике workflow получил 25 итоговых успехов из 30, Single 10 из 30, MAS 4 из 30. Это 83,3%, 33,3% и 13,3%. Среднее время с учётом неудач — 0,113, 23,184 и 41,751 секунды. Первый успех Single — 6 из 30, итоговый — 10, значит исправления иногда помогают. У MAS первый успех 7, итоговый 4: четыре верных первых кандидата не завершились принятием, а один неверный кандидат удалось исправить. Метрика строгая: правильное число с другой подписью также считается провалом. Это вывод для данной модели и реализации на маленьком известном наборе, а не универсальное сравнение архитектур. Медианы: 0,125, 19,953 и 36,281 секунды.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Александра: Single сделал 73 API-вызова, MAS — 118. По JSON известный расход составляет как минимум 49335 и 146615 токенов. Это нижние границы, а не полный расход: по четыре запуска каждого агентного варианта закончились тайм-аутом TLS, полного usage по ним нет. Включена известная часть расхода до сбоя. Входные и выходные токены: Single 42589 + 6746, MAS 121266 + 25349. В файлах тарифы не заданы, поэтому стоимость остаётся неизвестной. Workflow API не вызывает.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45 секунд. Александра: В T6, повтор 2, MAS правильно посчитала долю возвратов: Казань 14,3%, Москва и Тула по 21,4%. В T4, повтор 2, Single посчитал 14 заказов вместо двух покупателей в каждом регионе. В T5, повтор 1, число 15260 правильное, но подпись total_revenue_completed_orders отличается от эталонного «Всего», поэтому исходный оценщик засчитал провал. В T2, повтор 5, MAS дала правильную таблицу, однако Critic потребовал учитывать возвраты, которых вопрос не требовал. Переделку остановил предохранитель бюджета. Такие остановки означают отказ следующему вызову по резерву промпта, а не доказанное расходование всех 16000 токенов. В MAS таких остановок 12 из 30, ошибок порядка плана 5, сообщений об ошибке разбора JSON 7. Для положительного случая исправления: Single T2 повтор 4 исправил отсутствие нужных колонок и получил итоговый успех.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35 секунд. Сергей: В этой конфигурации MAS оказалась медленнее Single и дала меньше итоговых успехов. Часть разницы связана с протоколом: предохранитель бюджета остановил 12 MAS-запусков, встречались неверные планы и ошибки JSON. Следующий шаг — отдельно исправить критерий для технической подписи T5 и нормализовать контракт label/value, сократить передаваемую историю, а затем сравнить MAS с Critic и без него при том же бюджете. На новых скрытых перефразированных задачах повторим прогоны и сохраним тарифы и полный usage. Текущие показатели исходного оценщика в презентации не пересчитывались.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30 секунд. Александра: Этот слайд сохраняет предложенное ранее распределение зон ответственности. Сергей — workflow, Single, подключение LLM и журнал. Александра — MAS, задачи, сводка измерений и разбор провалов. Предоставленные результаты подтверждают факт реального прогона, но не показывают, кто выполнил каждую работу. Перед выступлением необходимо указать фактический вклад участников, не выдавая это распределение за подтверждённый факт. Каркас и слайды подготовлены с помощью ИИ. Источники: предоставленные пользователем metrics.csv, report.html и results (1).json. CSV и JSON сверены по всем 90 запускам. Время старта прогона по config: 18.10.2026, 18:38:48 UTC (21:38:48 МСК). Презентация обновлена 22.10.2026.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30b5f100540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38cb3a683e9473c" /><Relationship Type="http://schemas.openxmlformats.org/officeDocument/2006/relationships/slideLayout" Target="/ppt/slideLayouts/slideLayout1.xml" Id="Rc06782dd05e34e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6782dd05e34e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69b971f724d64" /><Relationship Type="http://schemas.openxmlformats.org/officeDocument/2006/relationships/notesSlide" Target="/ppt/notesSlides/notesSlide1.xml" Id="Rb96f49af45004a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4ba74b7074583" /><Relationship Type="http://schemas.openxmlformats.org/officeDocument/2006/relationships/notesSlide" Target="/ppt/notesSlides/notesSlide2.xml" Id="R840c8d77c27a42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3da202e6a04155" /><Relationship Type="http://schemas.openxmlformats.org/officeDocument/2006/relationships/notesSlide" Target="/ppt/notesSlides/notesSlide3.xml" Id="Rcf1046990de847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dce9f5e5f649bf" /><Relationship Type="http://schemas.openxmlformats.org/officeDocument/2006/relationships/notesSlide" Target="/ppt/notesSlides/notesSlide4.xml" Id="Ra78b345e738646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4e61d8d5644a08" /><Relationship Type="http://schemas.openxmlformats.org/officeDocument/2006/relationships/chart" Target="/ppt/slides/charts/chart1.xml" Id="R8101246dc4f24645" /><Relationship Type="http://schemas.openxmlformats.org/officeDocument/2006/relationships/notesSlide" Target="/ppt/notesSlides/notesSlide5.xml" Id="Rbf448dc72cb843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0f0ffe630b4311" /><Relationship Type="http://schemas.openxmlformats.org/officeDocument/2006/relationships/notesSlide" Target="/ppt/notesSlides/notesSlide6.xml" Id="Rf95d52d301ab46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f1a705b3643f5" /><Relationship Type="http://schemas.openxmlformats.org/officeDocument/2006/relationships/notesSlide" Target="/ppt/notesSlides/notesSlide7.xml" Id="R9ea9e24c463440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32ded04244a2" /><Relationship Type="http://schemas.openxmlformats.org/officeDocument/2006/relationships/notesSlide" Target="/ppt/notesSlides/notesSlide8.xml" Id="Rcb4c2fbcd9574b9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9412d1eb2d4526" /><Relationship Type="http://schemas.openxmlformats.org/officeDocument/2006/relationships/notesSlide" Target="/ppt/notesSlides/notesSlide9.xml" Id="R22eb0d967e524bc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de518897d4e0c" /><Relationship Type="http://schemas.openxmlformats.org/officeDocument/2006/relationships/notesSlide" Target="/ppt/notesSlides/notesSlide10.xml" Id="R984b0fe4a129458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Выручка, усл. руб.</c:v>
          </c:tx>
          <c:spPr>
            <a:solidFill xmlns:a="http://schemas.openxmlformats.org/drawingml/2006/main">
              <a:srgbClr val="087F8C"/>
            </a:solidFill>
          </c:spPr>
          <c:marker>
            <c:symbol val="none"/>
          </c:marker>
          <c:cat>
            <c:strRef>
              <c:f>'Chart Data'!$A$2:$A$4</c:f>
              <c:strCache>
                <c:ptCount val="3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4740</c:v>
                </c:pt>
                <c:pt idx="1">
                  <c:v>5405</c:v>
                </c:pt>
                <c:pt idx="2">
                  <c:v>5115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83340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60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200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8334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04EAC-316A-49E1-B6B6-E962C1DE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14400"/>
            <a:ext cx="10858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SQL-данные в PostgreSQL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DBC05-12F0-4414-99CF-C5A083A08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Workflow, одиночный агент</a:t>
            </a:r>
          </a:p>
          <a:p xmlns:a="http://schemas.openxmlformats.org/drawingml/2006/main">
            <a:pPr>
              <a:buNone/>
              <a:def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4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мультиагентная команда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20E646-E04D-4B59-9C30-F83DD704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Романов Сергей</a:t>
            </a:r>
          </a:p>
          <a:p xmlns:a="http://schemas.openxmlformats.org/drawingml/2006/main">
            <a:pPr>
              <a:buNone/>
              <a:def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Александра Железнова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31EF26-0E22-4F58-A88A-C67E18AB2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57925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50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BBD3DA"/>
                </a:solidFill>
                <a:latin typeface="Helvetica Neue"/>
                <a:ea typeface="Helvetica Neue"/>
                <a:cs typeface="Helvetica Neue"/>
              </a:rPr>
              <a:t>Результаты LLM-прогона. Защита 22 октября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6026053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B5CA-5E05-4BE3-ABCE-29FCBD44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Три работающих варианта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6D4C3-8A6A-4274-82AB-D6B28206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9005F-E442-4E4D-86C2-82ACD36CADD3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543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953000"/>
                <a:gridCol w="3924300"/>
              </a:tblGrid>
              <a:tr h="8858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Как решает задачу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Граница прототипа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SQL-шаблон и готовый отчёт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 поддерживаемых типов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Сам выбирает SQL и сводку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Получает ошибки инструментов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Нет отдельного проверяющего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858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Planner, SQL, Analyst, Critic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состояние и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До 2 циклов на задачу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59957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E522DA-95B0-43A2-9138-CA4E3B03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MAS и общая чёрная доска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077DB7-B427-4073-97E0-7ECA4D5B0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90A6DB-0FC4-4F85-87AF-CBD2750EA56E}"/>
              </a:ext>
            </a:extLst>
          </p:cNvPr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7924800"/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Роль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Результат в общем состоянии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 Planner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Подзадачи, порядок вызовов и инструкции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 SQL Agent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SQL-запрос и таблица результата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  Analyst Agent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Статистика, тип графика и сводка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  Critic / Verifier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Принятие ответа или причина переделки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85E64-A353-42BC-AAC1-F935B34C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Чёрная доска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94808-0557-45F4-8566-5AFF58E3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Вопрос, план, SQL, данные, отчёт, ошибки и история сообщений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41579-299D-4AB1-88E9-43E7308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38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Отказ Critic запускает новый цикл с сохранёнными замечаниями</a:t>
            </a:r>
          </a:p>
        </p:txBody>
      </p:sp>
    </p:spTree>
    <p:extLst>
      <p:ext uri="{BB962C8B-B14F-4D97-AF65-F5344CB8AC3E}">
        <p14:creationId xmlns:p14="http://schemas.microsoft.com/office/powerpoint/2010/main" val="17438157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8C2758-EE99-434F-9C94-6EDC4D5D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Условия сравнения и критерий успеха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28F0B-F9DC-4D7F-94D8-62350569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E40636-0E9A-47F0-BAAD-405D69004D17}"/>
              </a:ext>
            </a:extLst>
          </p:cNvPr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8020050"/>
              </a:tblGrid>
              <a:tr h="842963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Параметр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Общее правило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Данные и модель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qwen/qwen3.5-9b через Polza.ai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PostgreSQL 16.2. Шесть задач, пять повторов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Лимиты на задачу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 вызовов, 16 000 токенов, 120 с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 попытки, 700 выходных токенов на вызов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842963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Успех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Эталонная таблица, включая метки строк</a:t>
                      </a:r>
                    </a:p>
                    <a:p>
                      <a:r>
                        <a:rPr sz="195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Верный график и сводка с проверяемым числом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CD6CD6-9523-4E7A-9634-54DAFF06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65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Первый успех: первый кандидат. Итоговый: завершённый отчёт.</a:t>
            </a:r>
          </a:p>
        </p:txBody>
      </p:sp>
    </p:spTree>
    <p:extLst>
      <p:ext uri="{BB962C8B-B14F-4D97-AF65-F5344CB8AC3E}">
        <p14:creationId xmlns:p14="http://schemas.microsoft.com/office/powerpoint/2010/main" val="1640166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54EBE7-94CC-4B29-B6A1-06F1EDE68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Общий набор: шесть SQL-вопросов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2ECF1-9D4E-46FA-B384-8D54A3B0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26DE1-9911-44D2-A4A6-35321CB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T1   Выручка по месяцам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5315C-F1FA-4BD1-B1C1-70B0024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74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T2   Выручка по категориям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CC5A54-BA81-416F-87DA-33228C6B6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T3   Средний чек по регионам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EC38AE-7D24-4E92-8D0F-0D1E8A97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5757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T4   Уникальные покупатели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BF889-8BE6-4470-800C-8FCD6345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T5   Общая выручка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452-C17F-4440-A125-39430F06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57725"/>
            <a:ext cx="542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T6   Доля заказов с возвратами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EDCF8D-AFB9-4E8E-8967-56EC543C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002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T1: выручка, условные рубли</a:t>
            </a:r>
          </a:p>
        </p:txBody>
      </p:sp>
      <p:graphicFrame>
        <p:nvGraphicFramePr>
          <p:cNvPr id="21" name="Chart">
            <a:extLst xmlns:a="http://schemas.openxmlformats.org/drawingml/2006/main">
              <a:ext uri="{FF2B5EF4-FFF2-40B4-BE49-F238E27FC236}">
                <a16:creationId xmlns:a16="http://schemas.microsoft.com/office/drawing/2014/main" id="{EDBE14D8-F15A-42DF-AF95-D16639A53C73}"/>
              </a:ext>
            </a:extLst>
          </p:cNvPr>
          <p:cNvGraphicFramePr/>
          <p:nvPr/>
        </p:nvGraphicFramePr>
        <p:xfrm>
          <a:off xmlns:a="http://schemas.openxmlformats.org/drawingml/2006/main" x="6334125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101246dc4f24645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7A5A37-061F-4DAC-82A8-B1B164ED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48 заказов за январь–март 2026. Данные искусственные.</a:t>
            </a:r>
          </a:p>
        </p:txBody>
      </p:sp>
    </p:spTree>
    <p:extLst>
      <p:ext uri="{BB962C8B-B14F-4D97-AF65-F5344CB8AC3E}">
        <p14:creationId xmlns:p14="http://schemas.microsoft.com/office/powerpoint/2010/main" val="115841928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CC90D-3248-4A59-B593-6708EE35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Итоговый успех в реальном прогоне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36758D-54E6-4290-ADF9-95012254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3C16F-68B9-4CE6-A3E1-F9C793E9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Шесть задач, пять повторов. По 30 запусков на вариант.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C367B-C0DB-44F1-92FC-183824F6140D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714500"/>
                <a:gridCol w="1714500"/>
                <a:gridCol w="2095500"/>
                <a:gridCol w="2590800"/>
              </a:tblGrid>
              <a:tr h="690563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Сразу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Итог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Среднее, с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Вызовы API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25/30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0,113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6/30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10/30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23,184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4/30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41,751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118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B1326B-5881-4481-BEE1-59A61E085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 MAS четыре верных первых кандидата не дошли до принятия.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Успех включает точные метки строк, в том числе «Всего» для T5.</a:t>
            </a:r>
          </a:p>
        </p:txBody>
      </p:sp>
    </p:spTree>
    <p:extLst>
      <p:ext uri="{BB962C8B-B14F-4D97-AF65-F5344CB8AC3E}">
        <p14:creationId xmlns:p14="http://schemas.microsoft.com/office/powerpoint/2010/main" val="61912468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1EE4C2-2FC0-46D4-84A3-C55D2B7C8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Токены и полнота измерения затрат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647CE2-8D46-44B4-81AB-51AEF8F5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2397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Учтены успешные вызовы и известная часть неудачных запусков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044229-741D-4534-801A-A4D021A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¹ Известна нижняя граница токенов. Полный usage отсутствует у 8 запусков.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Стоимость н/д: тарифы не заданы.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FC971A-3001-4FEA-B714-D97AFCC7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3C7D8-B58F-4B8F-9877-D5F433CF126A}"/>
              </a:ext>
            </a:extLst>
          </p:cNvPr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1714500"/>
                <a:gridCol w="3048000"/>
                <a:gridCol w="2000250"/>
                <a:gridCol w="1924050"/>
              </a:tblGrid>
              <a:tr h="6905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Вариант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Вызовы API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Известные токены¹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Полный usage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Стоимость, $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T w="9525">
                      <a:solidFill>
                        <a:srgbClr val="D3DDDC"/>
                      </a:solidFill>
                      <a:prstDash val="solid"/>
                    </a:lnT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183340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30/30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н/д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Один агент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73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49 335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н/д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EDF1E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DDDC"/>
                      </a:solidFill>
                      <a:prstDash val="solid"/>
                    </a:lnL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118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≥ 146 615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26/30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н/д</a:t>
                      </a:r>
                    </a:p>
                  </a:txBody>
                  <a:tcPr marL="133350" marR="133350" marT="114300" marB="114300" anchor="ctr">
                    <a:lnR w="9525">
                      <a:solidFill>
                        <a:srgbClr val="D3DDDC"/>
                      </a:solidFill>
                      <a:prstDash val="solid"/>
                    </a:lnR>
                    <a:lnB w="9525">
                      <a:solidFill>
                        <a:srgbClr val="D3DDD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467647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D711E-8452-4ECF-82FC-49E8B721B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Успехи и провалы: что произошло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D58D0-1531-4F18-8F50-3F6F5A2E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FC83A-1C4A-4104-859E-844067E7D354}"/>
              </a:ext>
            </a:extLst>
          </p:cNvPr>
          <p:cNvGraphicFramePr/>
          <p:nvPr/>
        </p:nvGraphicFramePr>
        <p:xfrm>
          <a:off xmlns:a="http://schemas.openxmlformats.org/drawingml/2006/main" x="609600" y="1533525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238750"/>
                <a:gridCol w="3400425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Случай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Наблюдаемое поведение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Причина / смысл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T6, MAS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2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Казань: 14,3%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Москва и Тула: 21,4%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Корректный расчёт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уникальных заказов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T4, Single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2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14 вместо 2 покупателей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 каждом регионе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Посчитаны заказы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вместо покупателей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T5, Single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1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Выручка 15 260 верна,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но label ≠ «Всего»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Провал по формату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оценщика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T2, MAS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Повтор 5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Верный ответ отклонён,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переделка остановилась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Ложная критика.</a:t>
                      </a:r>
                    </a:p>
                    <a:p>
                      <a:r>
                        <a:rPr sz="1800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Предохранитель бюджета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40738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CDF604-B70F-4DEF-9DA4-7D3FB214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Выводы и следующий эксперимент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A6318-C474-4D30-9D52-685CF4F0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6618C5-E1C7-4443-B195-D44EAA31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6A9398-C03D-4E52-A621-D1DB20FB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685925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Уточнить критерий и формат ответа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36E9D0-AD5D-4006-A681-797552FCD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209800"/>
            <a:ext cx="9906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Фиксировать label и value. Проверять число T5 отдельно от подписи.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2E43A-54B9-4506-9AD9-526F5D2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4C9F7-2D5E-4D4C-A8AA-AD48685E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9718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Сократить состояние и проверить Critic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918941-E3EF-4442-8174-E265C755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623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Убрать лишнюю историю. Сравнить MAS с Critic и без него.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7F462D-F3C9-4BBA-B5EA-D715C32F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57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346DD-FAC9-4744-BB3C-60B485FC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448175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Повторить эксперимент с полными затратами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C8E97-0B7B-479C-9320-B78FDE045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01015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2025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Скрытые перефразировки, больше повторов, тарифы и полный usage.</a:t>
            </a:r>
          </a:p>
        </p:txBody>
      </p:sp>
    </p:spTree>
    <p:extLst>
      <p:ext uri="{BB962C8B-B14F-4D97-AF65-F5344CB8AC3E}">
        <p14:creationId xmlns:p14="http://schemas.microsoft.com/office/powerpoint/2010/main" val="1717283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19746-C996-4A3B-B79B-4F076C3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1">
                <a:solidFill>
                  <a:srgbClr val="183340"/>
                </a:solidFill>
                <a:latin typeface="Helvetica Neue"/>
                <a:ea typeface="Helvetica Neue"/>
                <a:cs typeface="Helvetica Neue"/>
              </a:rPr>
              <a:t>Личный вклад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B144E2-8FF5-443F-A6BF-BDA34AA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3150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 algn="l"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buNone/>
              <a:defRPr sz="1425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buNone/>
              <a:def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6A37A0-364A-4003-9285-1758BBBF66FE}"/>
              </a:ext>
            </a:extLst>
          </p:cNvPr>
          <p:cNvGraphicFramePr/>
          <p:nvPr/>
        </p:nvGraphicFramePr>
        <p:xfrm>
          <a:off xmlns:a="http://schemas.openxmlformats.org/drawingml/2006/main" x="609600" y="2333625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8255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Участник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Зона ответственности для проверки и доработки</a:t>
                      </a:r>
                    </a:p>
                  </a:txBody>
                  <a:tcPr marL="133350" marR="133350" marT="114300" marB="114300" anchor="ctr">
                    <a:solidFill>
                      <a:srgbClr val="183340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Романов Сергей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Workflow и одиночный агент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Подключение LLM, обработка ошибок, журнал вызовов</a:t>
                      </a:r>
                    </a:p>
                  </a:txBody>
                  <a:tcPr marL="133350" marR="133350" marT="114300" marB="114300" anchor="ctr">
                    <a:solidFill>
                      <a:srgbClr val="FFFFFF"/>
                    </a:solidFill>
                  </a:tcPr>
                </a:tc>
              </a:tr>
              <a:tr h="8255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Александра Железнова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MAS и тестовые задачи</a:t>
                      </a:r>
                    </a:p>
                    <a:p>
                      <a:r>
                        <a:rPr sz="2025" b="0">
                          <a:solidFill>
                            <a:srgbClr val="18334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Прогоны, сводка метрик, разбор ошибок и результаты</a:t>
                      </a:r>
                    </a:p>
                  </a:txBody>
                  <a:tcPr marL="133350" marR="133350" marT="114300" marB="114300" anchor="ctr">
                    <a:solidFill>
                      <a:srgbClr val="EDF1E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401DB-02EA-4AC9-9F94-E5174B62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06670"/>
                </a:solidFill>
                <a:latin typeface="Helvetica Neue"/>
                <a:ea typeface="Helvetica Neue"/>
                <a:cs typeface="Helvetica Neue"/>
              </a:rPr>
              <a:t>Учебный каркас и презентация подготовлены с помощью ИИ.</a:t>
            </a:r>
          </a:p>
        </p:txBody>
      </p:sp>
    </p:spTree>
    <p:extLst>
      <p:ext uri="{BB962C8B-B14F-4D97-AF65-F5344CB8AC3E}">
        <p14:creationId xmlns:p14="http://schemas.microsoft.com/office/powerpoint/2010/main" val="733841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2026-10-22T13:11:52.5720000Z</dcterms:created>
  <dcterms:modified xsi:type="dcterms:W3CDTF">2026-10-22T13:11:52.5720000Z</dcterms:modified>
</coreProperties>
</file>